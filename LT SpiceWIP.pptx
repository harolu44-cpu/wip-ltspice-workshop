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14"/>
  </p:notesMasterIdLst>
  <p:sldIdLst>
    <p:sldId id="256" r:id="rId2"/>
    <p:sldId id="258" r:id="rId3"/>
    <p:sldId id="259" r:id="rId4"/>
    <p:sldId id="267" r:id="rId5"/>
    <p:sldId id="261" r:id="rId6"/>
    <p:sldId id="268" r:id="rId7"/>
    <p:sldId id="262" r:id="rId8"/>
    <p:sldId id="263" r:id="rId9"/>
    <p:sldId id="266" r:id="rId10"/>
    <p:sldId id="264" r:id="rId11"/>
    <p:sldId id="265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7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A9CF2-FAAC-4742-940D-9692EB9D85D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B1D44-99C0-4A56-BADD-FECB0AF5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8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B1D44-99C0-4A56-BADD-FECB0AF551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00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05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03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9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38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21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08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4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1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646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84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36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8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2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ti.com/lit/ds/symlink/ne555.pdf?ts=1792616915775&amp;ref_url=https%253A%252F%252Fwww.ti.com%252Fproduct%252FNE555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log.com/media/en/technical-documentation/data-sheets/AD4000-4004-4008.pdf?ut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5g7BRYW8Zs" TargetMode="External"/><Relationship Id="rId2" Type="http://schemas.openxmlformats.org/officeDocument/2006/relationships/hyperlink" Target="https://e2e.ti.com/cfs-file/__key/communityserver-discussions-components-files/14/CircuitCookbook_2D00_OpAmps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lectronics-tutorials.ws/amplifier/amp_2.html" TargetMode="External"/><Relationship Id="rId4" Type="http://schemas.openxmlformats.org/officeDocument/2006/relationships/hyperlink" Target="https://www.youtube.com/watch?v=D32xE9Y8G0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9F4AC6-ABDC-9588-6035-E43A22E3DF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31611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029255-6B55-6CDE-DD79-3CEDE453B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r>
              <a:rPr lang="en-US" sz="5600">
                <a:solidFill>
                  <a:srgbClr val="FFFFFF"/>
                </a:solidFill>
              </a:rPr>
              <a:t>LT Spice</a:t>
            </a:r>
            <a:br>
              <a:rPr lang="en-US" sz="5600">
                <a:solidFill>
                  <a:srgbClr val="FFFFFF"/>
                </a:solidFill>
              </a:rPr>
            </a:br>
            <a:r>
              <a:rPr lang="en-US" sz="5600">
                <a:solidFill>
                  <a:srgbClr val="FFFFFF"/>
                </a:solidFill>
              </a:rPr>
              <a:t>WIP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2955F-5B23-E029-BDD3-0B56B4AE3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By: Luis Haro</a:t>
            </a:r>
          </a:p>
          <a:p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62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EC7E5-0D20-49E9-0224-700102395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Inverting Active Low-pass Filter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EF159C1A-D238-7F23-D7DD-B88851BE6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An active low-pass filter uses an op-amp, resistors, and a capacitor.</a:t>
            </a:r>
          </a:p>
          <a:p>
            <a:pPr lvl="0"/>
            <a:r>
              <a:rPr lang="en-US" dirty="0"/>
              <a:t>Allows low-frequency signals to pass while attenuating high-frequency signals.</a:t>
            </a:r>
          </a:p>
          <a:p>
            <a:pPr lvl="0"/>
            <a:r>
              <a:rPr lang="en-US" dirty="0"/>
              <a:t>The op-amp amplifies and inverts the input signal.</a:t>
            </a:r>
          </a:p>
          <a:p>
            <a:pPr lvl="0"/>
            <a:r>
              <a:rPr lang="en-US" dirty="0"/>
              <a:t>The feedback capacitor controls the frequency response.</a:t>
            </a:r>
          </a:p>
          <a:p>
            <a:pPr lvl="0"/>
            <a:r>
              <a:rPr lang="en-US" dirty="0"/>
              <a:t>Applications: noise reduction, sensor conditioning, and audio filtering.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8F58CB-E4BB-84C1-BD6A-6D7C25BFC2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03" r="27708" b="1"/>
          <a:stretch>
            <a:fillRect/>
          </a:stretch>
        </p:blipFill>
        <p:spPr>
          <a:xfrm>
            <a:off x="7611270" y="976160"/>
            <a:ext cx="3755033" cy="53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4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34F65-16DF-337F-7735-1BADB36B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&amp;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A5117-9FCC-CE23-E24D-A7E25485DD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5112" y="2441448"/>
                <a:ext cx="3662865" cy="3767328"/>
              </a:xfrm>
            </p:spPr>
            <p:txBody>
              <a:bodyPr/>
              <a:lstStyle/>
              <a:p>
                <a:r>
                  <a:rPr lang="en-US" dirty="0"/>
                  <a:t>Input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Feedback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Feedback capacitor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Input signal</a:t>
                </a:r>
              </a:p>
              <a:p>
                <a:r>
                  <a:rPr lang="en-US" dirty="0"/>
                  <a:t>AC input magnitude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A5117-9FCC-CE23-E24D-A7E25485DD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5112" y="2441448"/>
                <a:ext cx="3662865" cy="3767328"/>
              </a:xfrm>
              <a:blipFill>
                <a:blip r:embed="rId3"/>
                <a:stretch>
                  <a:fillRect l="-1167" t="-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F3F94E8-C152-E672-CE33-106418503A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96398" y="2340595"/>
                <a:ext cx="9529433" cy="37673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Voltage gain at low frequency: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Cutoff frequency: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Transfer function: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Bode magnitude in decibels: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en-US" i="0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i="0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  <m:r>
                                              <a:rPr lang="en-US" i="0" dirty="0" smtClean="0">
                                                <a:latin typeface="Cambria Math" panose="02040503050406030204" pitchFamily="18" charset="0"/>
                                              </a:rPr>
                                              <m:t>/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0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 Voltage gain magnitude: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i="0" dirty="0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sSub>
                                      <m:sSubPr>
                                        <m:ctrlP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Output voltage amplitude: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F3F94E8-C152-E672-CE33-106418503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398" y="2340595"/>
                <a:ext cx="9529433" cy="3767328"/>
              </a:xfrm>
              <a:prstGeom prst="rect">
                <a:avLst/>
              </a:prstGeom>
              <a:blipFill>
                <a:blip r:embed="rId4"/>
                <a:stretch>
                  <a:fillRect l="-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6798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98ABA-E754-1F7E-0710-7CA620F65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Inverting Active Low-pass Filter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BF3D42-232C-1D77-D931-D420E8DD6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86" y="2047683"/>
            <a:ext cx="7806414" cy="44213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F64D2E-B7E0-B680-5BD1-88A9EE187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339" y="3867929"/>
            <a:ext cx="3786717" cy="2762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D9CB60-422E-9CD4-7433-A4D8BF6F2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380" y="978408"/>
            <a:ext cx="2762636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76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2C57C-50CB-E5A2-94F7-FCE84157B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NE555 Timer Circuit</a:t>
            </a:r>
            <a:br>
              <a:rPr lang="en-US" dirty="0"/>
            </a:br>
            <a:r>
              <a:rPr lang="en-US" dirty="0"/>
              <a:t>Design using Datasheet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473AB-3F4F-1CEC-5DD2-8A68995B4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r>
              <a:rPr lang="en-US" dirty="0"/>
              <a:t>Datasheet: </a:t>
            </a:r>
            <a:r>
              <a:rPr lang="en-US" dirty="0">
                <a:hlinkClick r:id="rId2"/>
              </a:rPr>
              <a:t>https://www.ti.com/lit/ds/symlink/ne555.pdf?ts=1792616915775&amp;ref_url=https%253A%252F%252Fwww.ti.com%252Fproduct%252FNE555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CD2F82-2FA3-92B2-96F6-307F19F2C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492" y="976160"/>
            <a:ext cx="4364590" cy="184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4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D7F9EC8-0E2C-4023-9DD1-73BEF6B80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9898A-7FA7-F7B2-77B4-4B3A5DC5B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565779" cy="138699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5400" dirty="0"/>
              <a:t>NE555 Timer Schematic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D646702-1788-B97D-918B-46834CD1E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BE3284-EB6E-729F-4FD8-35AEB2231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40" y="2516605"/>
            <a:ext cx="4885454" cy="36153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A0BD62-08F5-C6A7-E9CF-D84107DF5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831" y="2876603"/>
            <a:ext cx="5515396" cy="2895582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6B4FCA5-23FA-C759-8E23-68410B350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12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37CDC9-3541-795C-1217-E1AF47E67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BJT common-emitter amplifier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734D21-58C4-C8E7-5CDD-D973E4E89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8" y="2524254"/>
            <a:ext cx="5639091" cy="3623116"/>
          </a:xfrm>
          <a:prstGeom prst="rect">
            <a:avLst/>
          </a:prstGeom>
        </p:spPr>
      </p:pic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3864C9D2-5131-3B47-BEC3-0E1C98A08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104" y="2304288"/>
            <a:ext cx="5129784" cy="4050792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US" dirty="0"/>
              <a:t>A common-emitter amplifier uses a Bipolar Junction Transistor (BJT), resistors, and capacitors to amplify electrical signals.</a:t>
            </a:r>
          </a:p>
          <a:p>
            <a:pPr lvl="0"/>
            <a:r>
              <a:rPr lang="en-US" dirty="0"/>
              <a:t>A small input signal applied to the base controls a larger current flowing between the collector and emitter.</a:t>
            </a:r>
          </a:p>
          <a:p>
            <a:pPr lvl="0"/>
            <a:r>
              <a:rPr lang="en-US" dirty="0"/>
              <a:t>The transistor amplifies and inverts the input signal, producing an output with approximately a 180° phase shift.</a:t>
            </a:r>
          </a:p>
          <a:p>
            <a:pPr lvl="0"/>
            <a:r>
              <a:rPr lang="en-US" dirty="0"/>
              <a:t>The resistors establish the transistor's operating point, while the capacitors couple AC signals and can increase amplification.</a:t>
            </a:r>
          </a:p>
          <a:p>
            <a:pPr lvl="0"/>
            <a:r>
              <a:rPr lang="en-US" b="1" dirty="0"/>
              <a:t>Applications:</a:t>
            </a:r>
            <a:r>
              <a:rPr lang="en-US" dirty="0"/>
              <a:t> Audio amplification, sensor signal conditioning, radio-frequency amplification, and communication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958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A2CFE-419D-B534-9CD0-85EC15A3D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&amp;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3515C5-71E9-99A3-E566-0EEBDFDAA0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578608"/>
                <a:ext cx="4819142" cy="3767328"/>
              </a:xfrm>
            </p:spPr>
            <p:txBody>
              <a:bodyPr/>
              <a:lstStyle/>
              <a:p>
                <a:pPr lvl="0"/>
                <a:r>
                  <a:rPr lang="en-US" dirty="0"/>
                  <a:t>Base bias resistors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Collector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Emitter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Input coupling capacitor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Emitter bypass capacitor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DC power supply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𝐶𝐶</m:t>
                        </m:r>
                      </m:sub>
                    </m:sSub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AC input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3515C5-71E9-99A3-E566-0EEBDFDAA0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578608"/>
                <a:ext cx="4819142" cy="3767328"/>
              </a:xfrm>
              <a:blipFill>
                <a:blip r:embed="rId2"/>
                <a:stretch>
                  <a:fillRect l="-886" t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2B89E1-96B6-A649-8AE9-E045FF021205}"/>
                  </a:ext>
                </a:extLst>
              </p:cNvPr>
              <p:cNvSpPr txBox="1"/>
              <p:nvPr/>
            </p:nvSpPr>
            <p:spPr>
              <a:xfrm>
                <a:off x="5645149" y="2441448"/>
                <a:ext cx="6823941" cy="7211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Base voltage: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𝐶𝐶</m:t>
                        </m:r>
                      </m:sub>
                    </m:sSub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Emitter voltage: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−0.7 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Emitter current: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Collector current: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Collector voltage: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𝐶𝐶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Collector-emitter voltage: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𝐶𝐸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Small-signal emitter resistance: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26 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𝑚𝑉</m:t>
                        </m:r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Voltage gain (with bypass capacitor):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≈−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Voltage gain (without bypass capacitor):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≈−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Output voltage amplitude: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2B89E1-96B6-A649-8AE9-E045FF021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149" y="2441448"/>
                <a:ext cx="6823941" cy="7211846"/>
              </a:xfrm>
              <a:prstGeom prst="rect">
                <a:avLst/>
              </a:prstGeom>
              <a:blipFill>
                <a:blip r:embed="rId3"/>
                <a:stretch>
                  <a:fillRect l="-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5905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026AE-6321-CB1D-D92B-5B777021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5303520"/>
            <a:ext cx="10080117" cy="10620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BJT common-emitter amplifier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CC11005-BC53-5976-9587-FB0B62EF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D8B9E5-390A-7A40-0E92-AD907C1493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88"/>
          <a:stretch>
            <a:fillRect/>
          </a:stretch>
        </p:blipFill>
        <p:spPr>
          <a:xfrm>
            <a:off x="517869" y="970929"/>
            <a:ext cx="5578131" cy="4096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2280BE-FC44-56A5-AB38-6C5793977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504"/>
          <a:stretch>
            <a:fillRect/>
          </a:stretch>
        </p:blipFill>
        <p:spPr>
          <a:xfrm>
            <a:off x="6220441" y="970929"/>
            <a:ext cx="5450641" cy="409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55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CCC1F-9BCD-8597-BA08-6D8269111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AD4000 ADC </a:t>
            </a:r>
            <a:br>
              <a:rPr lang="en-US" dirty="0"/>
            </a:br>
            <a:r>
              <a:rPr lang="en-US" dirty="0"/>
              <a:t>Design using Datasheet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DECA-2D75-BA64-B8EB-0F6F0D1E7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Datasheet: </a:t>
            </a:r>
            <a:r>
              <a:rPr lang="en-US" dirty="0">
                <a:hlinkClick r:id="rId2"/>
              </a:rPr>
              <a:t>https://www.analog.com/media/en/technical-documentation/data-sheets/AD4000-4004-4008.pdf?utm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82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87F5F-95AF-C013-B0A0-168F07C9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303520"/>
            <a:ext cx="7726680" cy="10620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AD4000 schematic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CC11005-BC53-5976-9587-FB0B62EF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62AD61-3227-B307-7E65-CD3F6015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99" b="1"/>
          <a:stretch>
            <a:fillRect/>
          </a:stretch>
        </p:blipFill>
        <p:spPr>
          <a:xfrm>
            <a:off x="517869" y="970929"/>
            <a:ext cx="5450641" cy="4096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461A49-9CB1-DD23-D6E8-9587B68061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88" r="3375" b="1"/>
          <a:stretch>
            <a:fillRect/>
          </a:stretch>
        </p:blipFill>
        <p:spPr>
          <a:xfrm>
            <a:off x="6220441" y="970929"/>
            <a:ext cx="5450641" cy="409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38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C3D4D-B21E-7A76-20E5-855E69B7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503D4-EEC8-975A-0C40-19C4B590D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013832"/>
            <a:ext cx="11155680" cy="3767328"/>
          </a:xfrm>
        </p:spPr>
        <p:txBody>
          <a:bodyPr/>
          <a:lstStyle/>
          <a:p>
            <a:r>
              <a:rPr lang="en-US" dirty="0"/>
              <a:t>Op Amp Cookbook: </a:t>
            </a:r>
            <a:r>
              <a:rPr lang="en-US" dirty="0">
                <a:hlinkClick r:id="rId2"/>
              </a:rPr>
              <a:t>https://e2e.ti.com/cfs-file/__key/communityserver-discussions-components-files/14/CircuitCookbook_2D00_OpAmps.pdf</a:t>
            </a:r>
            <a:endParaRPr lang="en-US" dirty="0"/>
          </a:p>
          <a:p>
            <a:r>
              <a:rPr lang="en-US" dirty="0"/>
              <a:t>Inverting Low-pass Filter: </a:t>
            </a:r>
            <a:r>
              <a:rPr lang="en-US" dirty="0">
                <a:hlinkClick r:id="rId3"/>
              </a:rPr>
              <a:t>https://www.youtube.com/watch?v=h5g7BRYW8Zs</a:t>
            </a:r>
            <a:endParaRPr lang="en-US" dirty="0"/>
          </a:p>
          <a:p>
            <a:r>
              <a:rPr lang="en-US" dirty="0"/>
              <a:t>Active filters: </a:t>
            </a:r>
            <a:r>
              <a:rPr lang="en-US" dirty="0">
                <a:hlinkClick r:id="rId4"/>
              </a:rPr>
              <a:t>https://www.youtube.com/watch?v=D32xE9Y8G0M</a:t>
            </a:r>
            <a:endParaRPr lang="en-US" dirty="0"/>
          </a:p>
          <a:p>
            <a:r>
              <a:rPr lang="en-US" dirty="0"/>
              <a:t>BJT common-emitter amplifier: </a:t>
            </a:r>
            <a:r>
              <a:rPr lang="en-US" dirty="0">
                <a:hlinkClick r:id="rId5"/>
              </a:rPr>
              <a:t>https://www.electronics-tutorials.ws/amplifier/amp_2.html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2967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513</Words>
  <Application>Microsoft Office PowerPoint</Application>
  <PresentationFormat>Widescreen</PresentationFormat>
  <Paragraphs>69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Bierstadt</vt:lpstr>
      <vt:lpstr>Cambria Math</vt:lpstr>
      <vt:lpstr>GestaltVTI</vt:lpstr>
      <vt:lpstr>LT Spice WIP Workshop</vt:lpstr>
      <vt:lpstr>Inverting Active Low-pass Filter</vt:lpstr>
      <vt:lpstr>Components &amp; Equations</vt:lpstr>
      <vt:lpstr>Inverting Active Low-pass Filter</vt:lpstr>
      <vt:lpstr>NE555 Timer Circuit Design using Datasheet</vt:lpstr>
      <vt:lpstr>NE555 Timer Schematic</vt:lpstr>
      <vt:lpstr>BJT common-emitter amplifier</vt:lpstr>
      <vt:lpstr>Components &amp; Equations</vt:lpstr>
      <vt:lpstr>BJT common-emitter amplifier</vt:lpstr>
      <vt:lpstr>AD4000 ADC  Design using Datasheet</vt:lpstr>
      <vt:lpstr>AD4000 schematic</vt:lpstr>
      <vt:lpstr>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Haro</dc:creator>
  <cp:lastModifiedBy>Luis Haro</cp:lastModifiedBy>
  <cp:revision>2</cp:revision>
  <dcterms:created xsi:type="dcterms:W3CDTF">2026-10-21T20:12:36Z</dcterms:created>
  <dcterms:modified xsi:type="dcterms:W3CDTF">2026-10-22T02:30:10Z</dcterms:modified>
</cp:coreProperties>
</file>